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3" r:id="rId3"/>
    <p:sldId id="256" r:id="rId4"/>
    <p:sldId id="257" r:id="rId5"/>
    <p:sldId id="258" r:id="rId6"/>
    <p:sldId id="259" r:id="rId7"/>
    <p:sldId id="260"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50545"/>
            <a:ext cx="9144000" cy="5611495"/>
          </a:xfrm>
        </p:spPr>
        <p:txBody>
          <a:bodyPr>
            <a:normAutofit/>
          </a:bodyPr>
          <a:lstStyle/>
          <a:p>
            <a:pPr algn="just"/>
            <a:r>
              <a:rPr lang="en-US" sz="1800"/>
              <a:t>Answer : C, Reason</a:t>
            </a:r>
            <a:endParaRPr lang="en-US" sz="1800"/>
          </a:p>
          <a:p>
            <a:pPr algn="just"/>
            <a:endParaRPr lang="en-US" sz="1800"/>
          </a:p>
          <a:p>
            <a:pPr marL="342900" indent="-342900" algn="just">
              <a:buFont typeface="Arial" panose="020B0604020202020204" pitchFamily="34" charset="0"/>
              <a:buChar char="•"/>
            </a:pPr>
            <a:r>
              <a:rPr lang="en-US" altLang="en-US" sz="1800"/>
              <a:t>A: LIMIT is not supported in Oracle, only in MySQL or PostgreSQL.</a:t>
            </a:r>
            <a:endParaRPr lang="en-US" altLang="en-US" sz="1800"/>
          </a:p>
          <a:p>
            <a:pPr marL="342900" indent="-342900" algn="just">
              <a:buFont typeface="Arial" panose="020B0604020202020204" pitchFamily="34" charset="0"/>
              <a:buChar char="•"/>
            </a:pPr>
            <a:endParaRPr lang="en-US" altLang="en-US" sz="1800"/>
          </a:p>
          <a:p>
            <a:pPr marL="342900" indent="-342900" algn="just">
              <a:buFont typeface="Arial" panose="020B0604020202020204" pitchFamily="34" charset="0"/>
              <a:buChar char="•"/>
            </a:pPr>
            <a:r>
              <a:rPr lang="en-US" altLang="en-US" sz="1800"/>
              <a:t>B: Wrong order of execution — ROWNUM applied before ORDER BY.</a:t>
            </a:r>
            <a:endParaRPr lang="en-US" altLang="en-US" sz="1800"/>
          </a:p>
          <a:p>
            <a:pPr marL="342900" indent="-342900" algn="just">
              <a:buFont typeface="Arial" panose="020B0604020202020204" pitchFamily="34" charset="0"/>
              <a:buChar char="•"/>
            </a:pPr>
            <a:endParaRPr lang="en-US" altLang="en-US" sz="1800"/>
          </a:p>
          <a:p>
            <a:pPr marL="342900" indent="-342900" algn="just">
              <a:buFont typeface="Arial" panose="020B0604020202020204" pitchFamily="34" charset="0"/>
              <a:buChar char="•"/>
            </a:pPr>
            <a:r>
              <a:rPr lang="en-US" altLang="en-US" sz="1800"/>
              <a:t>C: so if you write WHERE ROWNUM &lt;= 5 ORDER BY salary DESC, it will take the first 5 rows before sorting, giving wrong results.</a:t>
            </a:r>
            <a:endParaRPr lang="en-US" altLang="en-US" sz="1800"/>
          </a:p>
          <a:p>
            <a:pPr indent="457200" algn="just">
              <a:buFont typeface="Arial" panose="020B0604020202020204" pitchFamily="34" charset="0"/>
            </a:pPr>
            <a:r>
              <a:rPr lang="en-US" altLang="en-US" sz="1800"/>
              <a:t>That’s why we use a subquery:</a:t>
            </a:r>
            <a:endParaRPr lang="en-US" altLang="en-US" sz="1800"/>
          </a:p>
          <a:p>
            <a:pPr indent="457200" algn="just">
              <a:buFont typeface="Arial" panose="020B0604020202020204" pitchFamily="34" charset="0"/>
            </a:pPr>
            <a:r>
              <a:rPr lang="en-US" altLang="en-US" sz="1800"/>
              <a:t>Inner query → sorts all employees by salary (highest first).</a:t>
            </a:r>
            <a:endParaRPr lang="en-US" altLang="en-US" sz="1800"/>
          </a:p>
          <a:p>
            <a:pPr indent="457200" algn="just">
              <a:buFont typeface="Arial" panose="020B0604020202020204" pitchFamily="34" charset="0"/>
            </a:pPr>
            <a:r>
              <a:rPr lang="en-US" altLang="en-US" sz="1800"/>
              <a:t>Outer query → picks the first 5 rows (highest-paid employees).</a:t>
            </a:r>
            <a:endParaRPr lang="en-US" altLang="en-US" sz="1800"/>
          </a:p>
          <a:p>
            <a:pPr indent="457200" algn="just">
              <a:buFont typeface="Arial" panose="020B0604020202020204" pitchFamily="34" charset="0"/>
            </a:pPr>
            <a:r>
              <a:rPr lang="en-US" altLang="en-US" sz="1800"/>
              <a:t>Correct logic + works in all Oracle versions.</a:t>
            </a:r>
            <a:endParaRPr lang="en-US" altLang="en-US" sz="1800"/>
          </a:p>
          <a:p>
            <a:pPr indent="457200" algn="just">
              <a:buFont typeface="Arial" panose="020B0604020202020204" pitchFamily="34" charset="0"/>
            </a:pPr>
            <a:endParaRPr lang="en-US" altLang="en-US" sz="1800"/>
          </a:p>
          <a:p>
            <a:pPr marL="285750" indent="-285750" algn="just">
              <a:buFont typeface="Arial" panose="020B0604020202020204" pitchFamily="34" charset="0"/>
              <a:buChar char="•"/>
            </a:pPr>
            <a:r>
              <a:rPr lang="en-US" altLang="en-US" sz="1800"/>
              <a:t>D: Works in Oracle 12c and newer, so it’s also correct but only for modern versions.</a:t>
            </a:r>
            <a:endParaRPr lang="en-US"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50545"/>
            <a:ext cx="9144000" cy="5611495"/>
          </a:xfrm>
        </p:spPr>
        <p:txBody>
          <a:bodyPr/>
          <a:lstStyle/>
          <a:p>
            <a:pPr algn="just"/>
            <a:r>
              <a:rPr lang="en-US" sz="1800"/>
              <a:t>Answer : B, Reason</a:t>
            </a:r>
            <a:endParaRPr lang="en-US" sz="1800"/>
          </a:p>
          <a:p>
            <a:pPr algn="just"/>
            <a:endParaRPr lang="en-US" sz="1800"/>
          </a:p>
          <a:p>
            <a:pPr marL="342900" indent="-342900" algn="just">
              <a:buFont typeface="Arial" panose="020B0604020202020204" pitchFamily="34" charset="0"/>
              <a:buChar char="•"/>
            </a:pPr>
            <a:r>
              <a:rPr lang="en-US" sz="1800"/>
              <a:t>A:</a:t>
            </a:r>
            <a:r>
              <a:rPr lang="en-US" altLang="en-US" sz="1800"/>
              <a:t>SET is used for environment settings (like SET SERVEROUTPUT ON),</a:t>
            </a:r>
            <a:endParaRPr lang="en-US" altLang="en-US" sz="1800"/>
          </a:p>
          <a:p>
            <a:pPr indent="457200" algn="just">
              <a:buFont typeface="Arial" panose="020B0604020202020204" pitchFamily="34" charset="0"/>
            </a:pPr>
            <a:r>
              <a:rPr lang="en-US" altLang="en-US" sz="1800"/>
              <a:t>not for declaring variables.</a:t>
            </a:r>
            <a:endParaRPr lang="en-US" altLang="en-US" sz="1800"/>
          </a:p>
          <a:p>
            <a:pPr indent="457200" algn="just">
              <a:buFont typeface="Arial" panose="020B0604020202020204" pitchFamily="34" charset="0"/>
            </a:pPr>
            <a:endParaRPr lang="en-US" altLang="en-US" sz="1800"/>
          </a:p>
          <a:p>
            <a:pPr marL="285750" indent="-285750" algn="just">
              <a:buFont typeface="Arial" panose="020B0604020202020204" pitchFamily="34" charset="0"/>
              <a:buChar char="•"/>
            </a:pPr>
            <a:r>
              <a:rPr lang="en-US" altLang="en-US" sz="1800"/>
              <a:t>B: DEFINE creates a substitution variable —</a:t>
            </a:r>
            <a:endParaRPr lang="en-US" altLang="en-US" sz="1800"/>
          </a:p>
          <a:p>
            <a:pPr indent="457200" algn="just">
              <a:buFont typeface="Arial" panose="020B0604020202020204" pitchFamily="34" charset="0"/>
            </a:pPr>
            <a:r>
              <a:rPr lang="en-US" altLang="en-US" sz="1800"/>
              <a:t>it can be used anywhere in the script by referring to it as &amp;dept_id.</a:t>
            </a:r>
            <a:endParaRPr lang="en-US" altLang="en-US" sz="1800"/>
          </a:p>
          <a:p>
            <a:pPr algn="just">
              <a:buFont typeface="Arial" panose="020B0604020202020204" pitchFamily="34" charset="0"/>
            </a:pPr>
            <a:endParaRPr lang="en-US" altLang="en-US" sz="1800"/>
          </a:p>
          <a:p>
            <a:pPr marL="285750" indent="-285750" algn="just">
              <a:buFont typeface="Arial" panose="020B0604020202020204" pitchFamily="34" charset="0"/>
              <a:buChar char="•"/>
            </a:pPr>
            <a:r>
              <a:rPr lang="en-US" altLang="en-US" sz="1800"/>
              <a:t>C:VARIABLE defines a bind variable, used in PL/SQL blocks, not directly as a script constant.</a:t>
            </a:r>
            <a:endParaRPr lang="en-US" altLang="en-US" sz="1800"/>
          </a:p>
          <a:p>
            <a:pPr indent="457200" algn="just">
              <a:buFont typeface="Arial" panose="020B0604020202020204" pitchFamily="34" charset="0"/>
            </a:pPr>
            <a:r>
              <a:rPr lang="en-US" altLang="en-US" sz="1800"/>
              <a:t>Also, you can’t assign a value directly in the same line like that.</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altLang="en-US" sz="1800"/>
              <a:t>D: Used inside a PL/SQL block, not in a plain SQL script</a:t>
            </a:r>
            <a:endParaRPr lang="en-US" alt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50545"/>
            <a:ext cx="9144000" cy="5611495"/>
          </a:xfrm>
        </p:spPr>
        <p:txBody>
          <a:bodyPr>
            <a:normAutofit lnSpcReduction="20000"/>
          </a:bodyPr>
          <a:lstStyle/>
          <a:p>
            <a:pPr algn="just"/>
            <a:r>
              <a:rPr lang="en-US" sz="1800"/>
              <a:t>Answer : D , Reason</a:t>
            </a:r>
            <a:endParaRPr lang="en-US" sz="1800"/>
          </a:p>
          <a:p>
            <a:pPr algn="just"/>
            <a:endParaRPr lang="en-US" sz="1800"/>
          </a:p>
          <a:p>
            <a:pPr marL="285750" indent="-285750" algn="just">
              <a:buFont typeface="Arial" panose="020B0604020202020204" pitchFamily="34" charset="0"/>
              <a:buChar char="•"/>
            </a:pPr>
            <a:r>
              <a:rPr lang="en-US" sz="1800"/>
              <a:t>A: </a:t>
            </a:r>
            <a:r>
              <a:rPr lang="en-US" altLang="en-US" sz="1800"/>
              <a:t>salary defaults to ASC, not descending.</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sz="1800"/>
              <a:t>B: </a:t>
            </a:r>
            <a:r>
              <a:rPr lang="en-US" altLang="en-US" sz="1800"/>
              <a:t>Works, but doesn’t explicitly specify department ASC (ASC is default). Still correct in effect, but D is clearer and explicit.</a:t>
            </a:r>
            <a:endParaRPr lang="en-US" altLang="en-US" sz="1800"/>
          </a:p>
          <a:p>
            <a:pPr algn="just">
              <a:buFont typeface="Arial" panose="020B0604020202020204" pitchFamily="34" charset="0"/>
            </a:pPr>
            <a:endParaRPr lang="en-US" altLang="en-US" sz="1800"/>
          </a:p>
          <a:p>
            <a:pPr marL="285750" indent="-285750" algn="just">
              <a:buFont typeface="Arial" panose="020B0604020202020204" pitchFamily="34" charset="0"/>
              <a:buChar char="•"/>
            </a:pPr>
            <a:r>
              <a:rPr lang="en-US" altLang="en-US" sz="1800"/>
              <a:t>C: SORT BY is not valid SQL in Oracle or standard SQL</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altLang="en-US" sz="1800"/>
              <a:t>D: First sort by department in ascending order</a:t>
            </a:r>
            <a:endParaRPr lang="en-US" altLang="en-US" sz="1800"/>
          </a:p>
          <a:p>
            <a:pPr indent="457200" algn="just">
              <a:buFont typeface="Arial" panose="020B0604020202020204" pitchFamily="34" charset="0"/>
            </a:pPr>
            <a:r>
              <a:rPr lang="en-US" altLang="en-US" sz="1800"/>
              <a:t>Then sort by salary in descending order</a:t>
            </a:r>
            <a:endParaRPr lang="en-US"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50545"/>
            <a:ext cx="9144000" cy="5611495"/>
          </a:xfrm>
        </p:spPr>
        <p:txBody>
          <a:bodyPr>
            <a:noAutofit/>
          </a:bodyPr>
          <a:lstStyle/>
          <a:p>
            <a:pPr algn="just"/>
            <a:r>
              <a:rPr lang="en-US" sz="1800"/>
              <a:t>Answer : A, Reason</a:t>
            </a:r>
            <a:endParaRPr lang="en-US" sz="1800"/>
          </a:p>
          <a:p>
            <a:pPr algn="just"/>
            <a:endParaRPr lang="en-US" sz="1800"/>
          </a:p>
          <a:p>
            <a:pPr marL="285750" indent="-285750" algn="just">
              <a:buFont typeface="Arial" panose="020B0604020202020204" pitchFamily="34" charset="0"/>
              <a:buChar char="•"/>
            </a:pPr>
            <a:r>
              <a:rPr lang="en-US" sz="1800"/>
              <a:t>A: </a:t>
            </a:r>
            <a:r>
              <a:rPr lang="en-US" altLang="en-US" sz="1800"/>
              <a:t>Shows the old and new values of substitution variables after replacement. (Useful for debugging, but doesn’t prompt.)</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altLang="en-US" sz="1800"/>
              <a:t>B: SET DEFINE ON → enables the prompting for values when a script uses a substitution variable.</a:t>
            </a:r>
            <a:endParaRPr lang="en-US" altLang="en-US" sz="1800"/>
          </a:p>
          <a:p>
            <a:pPr indent="457200" algn="just">
              <a:buFont typeface="Arial" panose="020B0604020202020204" pitchFamily="34" charset="0"/>
            </a:pPr>
            <a:r>
              <a:rPr lang="en-US" altLang="en-US" sz="1800"/>
              <a:t>SQL*Plus will prompt the user: Enter value for dept_id:</a:t>
            </a:r>
            <a:endParaRPr lang="en-US" altLang="en-US" sz="1800"/>
          </a:p>
          <a:p>
            <a:pPr indent="457200" algn="just">
              <a:buFont typeface="Arial" panose="020B0604020202020204" pitchFamily="34" charset="0"/>
            </a:pPr>
            <a:r>
              <a:rPr lang="en-US" altLang="en-US" sz="1800"/>
              <a:t>The entered value is then used in the query</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altLang="en-US" sz="1800"/>
              <a:t>C: Not a valid SQL*Plus command.</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altLang="en-US" sz="1800"/>
              <a:t>D: Displays the SQL statements in the script as they are executed..</a:t>
            </a:r>
            <a:endParaRPr lang="en-US" alt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50545"/>
            <a:ext cx="9144000" cy="5611495"/>
          </a:xfrm>
        </p:spPr>
        <p:txBody>
          <a:bodyPr/>
          <a:lstStyle/>
          <a:p>
            <a:pPr algn="just"/>
            <a:r>
              <a:rPr lang="en-US" sz="1800"/>
              <a:t>Answer : A, Reason</a:t>
            </a:r>
            <a:endParaRPr lang="en-US" sz="1800"/>
          </a:p>
          <a:p>
            <a:pPr algn="just"/>
            <a:endParaRPr lang="en-US" sz="1800"/>
          </a:p>
          <a:p>
            <a:pPr marL="285750" indent="-285750" algn="just">
              <a:buFont typeface="Arial" panose="020B0604020202020204" pitchFamily="34" charset="0"/>
              <a:buChar char="•"/>
            </a:pPr>
            <a:r>
              <a:rPr lang="en-US" sz="1800"/>
              <a:t>A: </a:t>
            </a:r>
            <a:r>
              <a:rPr lang="en-US" altLang="en-US" sz="1800"/>
              <a:t>Orders by date (newest first) → then takes only 10 rows.</a:t>
            </a:r>
            <a:endParaRPr lang="en-US" altLang="en-US" sz="1800"/>
          </a:p>
          <a:p>
            <a:pPr algn="just"/>
            <a:r>
              <a:rPr lang="en-US" altLang="en-US" sz="1800"/>
              <a:t>     Modern and fastest way in Oracle.</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altLang="en-US" sz="1800"/>
              <a:t>B: Takes first 10 random rows → then sorts them.</a:t>
            </a:r>
            <a:endParaRPr lang="en-US" altLang="en-US" sz="1800"/>
          </a:p>
          <a:p>
            <a:pPr indent="457200" algn="just">
              <a:buFont typeface="Arial" panose="020B0604020202020204" pitchFamily="34" charset="0"/>
            </a:pPr>
            <a:r>
              <a:rPr lang="en-US" altLang="en-US" sz="1800"/>
              <a:t> Not the latest transactions.</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altLang="en-US" sz="1800"/>
              <a:t>C: First sorts all rows → then picks first 10.</a:t>
            </a:r>
            <a:endParaRPr lang="en-US" altLang="en-US" sz="1800"/>
          </a:p>
          <a:p>
            <a:pPr indent="457200" algn="just">
              <a:buFont typeface="Arial" panose="020B0604020202020204" pitchFamily="34" charset="0"/>
            </a:pPr>
            <a:r>
              <a:rPr lang="en-US" altLang="en-US" sz="1800"/>
              <a:t> Works, but a bit slower.</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altLang="en-US" sz="1800"/>
              <a:t>D: TOP 10 is for SQL Server, not Oracle.</a:t>
            </a:r>
            <a:endParaRPr lang="en-US" altLang="en-US" sz="1800"/>
          </a:p>
          <a:p>
            <a:pPr indent="457200" algn="just">
              <a:buFont typeface="Arial" panose="020B0604020202020204" pitchFamily="34" charset="0"/>
            </a:pPr>
            <a:r>
              <a:rPr lang="en-US" altLang="en-US" sz="1800"/>
              <a:t> Invalid in Oracle.</a:t>
            </a:r>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50545"/>
            <a:ext cx="9144000" cy="5611495"/>
          </a:xfrm>
        </p:spPr>
        <p:txBody>
          <a:bodyPr/>
          <a:lstStyle/>
          <a:p>
            <a:pPr algn="just"/>
            <a:r>
              <a:rPr lang="en-US" sz="1800"/>
              <a:t>Answer : B , Reason</a:t>
            </a:r>
            <a:endParaRPr lang="en-US" sz="1800"/>
          </a:p>
          <a:p>
            <a:pPr algn="just"/>
            <a:endParaRPr lang="en-US" sz="1800"/>
          </a:p>
          <a:p>
            <a:pPr marL="285750" indent="-285750" algn="just">
              <a:buFont typeface="Arial" panose="020B0604020202020204" pitchFamily="34" charset="0"/>
              <a:buChar char="•"/>
            </a:pPr>
            <a:r>
              <a:rPr lang="en-US" sz="1800"/>
              <a:t>A: </a:t>
            </a:r>
            <a:r>
              <a:rPr lang="en-US" altLang="en-US" sz="1800"/>
              <a:t>Shows commands, not variable values.</a:t>
            </a:r>
            <a:endParaRPr lang="en-US" altLang="en-US" sz="1800"/>
          </a:p>
          <a:p>
            <a:pPr algn="just"/>
            <a:endParaRPr lang="en-US" sz="1800"/>
          </a:p>
          <a:p>
            <a:pPr marL="285750" indent="-285750" algn="just">
              <a:buFont typeface="Arial" panose="020B0604020202020204" pitchFamily="34" charset="0"/>
              <a:buChar char="•"/>
            </a:pPr>
            <a:r>
              <a:rPr lang="en-US" sz="1800"/>
              <a:t>B: </a:t>
            </a:r>
            <a:r>
              <a:rPr lang="en-US" altLang="en-US" sz="1800"/>
              <a:t>This shows both the old (with variable) and new (with actual value) SQL statements.</a:t>
            </a:r>
            <a:endParaRPr lang="en-US" altLang="en-US" sz="1800"/>
          </a:p>
          <a:p>
            <a:pPr indent="457200" algn="just">
              <a:buFont typeface="Arial" panose="020B0604020202020204" pitchFamily="34" charset="0"/>
            </a:pPr>
            <a:r>
              <a:rPr lang="en-US" altLang="en-US" sz="1800"/>
              <a:t> Useful when debugging substitution variables (like &amp;name or &amp;id).</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sz="1800"/>
              <a:t>C: </a:t>
            </a:r>
            <a:r>
              <a:rPr lang="en-US" altLang="en-US" sz="1800"/>
              <a:t>Enables use of substitution variables (using &amp;),</a:t>
            </a:r>
            <a:endParaRPr lang="en-US" altLang="en-US" sz="1800"/>
          </a:p>
          <a:p>
            <a:pPr indent="457200" algn="just">
              <a:buFont typeface="Arial" panose="020B0604020202020204" pitchFamily="34" charset="0"/>
            </a:pPr>
            <a:r>
              <a:rPr lang="en-US" altLang="en-US" sz="1800"/>
              <a:t> but does not display their values.</a:t>
            </a:r>
            <a:endParaRPr lang="en-US" altLang="en-US" sz="1800"/>
          </a:p>
          <a:p>
            <a:pPr marL="285750" indent="-285750" algn="just">
              <a:buFont typeface="Arial" panose="020B0604020202020204" pitchFamily="34" charset="0"/>
              <a:buChar char="•"/>
            </a:pPr>
            <a:endParaRPr lang="en-US" sz="1800"/>
          </a:p>
          <a:p>
            <a:pPr marL="285750" indent="-285750" algn="just">
              <a:buFont typeface="Arial" panose="020B0604020202020204" pitchFamily="34" charset="0"/>
              <a:buChar char="•"/>
            </a:pPr>
            <a:r>
              <a:rPr lang="en-US" sz="1800"/>
              <a:t>D:</a:t>
            </a:r>
            <a:r>
              <a:rPr lang="en-US" altLang="en-US" sz="1800"/>
              <a:t>Automatically prints the result of a SQL*Plus variable after execution.</a:t>
            </a:r>
            <a:endParaRPr lang="en-US" altLang="en-US" sz="1800"/>
          </a:p>
          <a:p>
            <a:pPr indent="457200" algn="just">
              <a:buFont typeface="Arial" panose="020B0604020202020204" pitchFamily="34" charset="0"/>
            </a:pPr>
            <a:r>
              <a:rPr lang="en-US" altLang="en-US" sz="1800"/>
              <a:t> Not related to showing substitution values.</a:t>
            </a:r>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50545"/>
            <a:ext cx="9144000" cy="5611495"/>
          </a:xfrm>
        </p:spPr>
        <p:txBody>
          <a:bodyPr>
            <a:normAutofit lnSpcReduction="10000"/>
          </a:bodyPr>
          <a:lstStyle/>
          <a:p>
            <a:pPr algn="just"/>
            <a:r>
              <a:rPr lang="en-US" sz="1800"/>
              <a:t>Answer : A, Reason</a:t>
            </a:r>
            <a:endParaRPr lang="en-US" sz="1800"/>
          </a:p>
          <a:p>
            <a:pPr algn="just"/>
            <a:endParaRPr lang="en-US" sz="1800"/>
          </a:p>
          <a:p>
            <a:pPr marL="285750" indent="-285750" algn="just">
              <a:buFont typeface="Arial" panose="020B0604020202020204" pitchFamily="34" charset="0"/>
              <a:buChar char="•"/>
            </a:pPr>
            <a:r>
              <a:rPr lang="en-US" sz="1800"/>
              <a:t>A: </a:t>
            </a:r>
            <a:r>
              <a:rPr lang="en-US" altLang="en-US" sz="1800"/>
              <a:t>ORDER BY is the correct SQL clause for sorting.</a:t>
            </a:r>
            <a:endParaRPr lang="en-US" altLang="en-US" sz="1800"/>
          </a:p>
          <a:p>
            <a:pPr indent="457200" algn="just">
              <a:buFont typeface="Arial" panose="020B0604020202020204" pitchFamily="34" charset="0"/>
            </a:pPr>
            <a:r>
              <a:rPr lang="en-US" altLang="en-US" sz="1800"/>
              <a:t> It first sorts by last_name (A → Z),</a:t>
            </a:r>
            <a:endParaRPr lang="en-US" altLang="en-US" sz="1800"/>
          </a:p>
          <a:p>
            <a:pPr indent="457200" algn="just">
              <a:buFont typeface="Arial" panose="020B0604020202020204" pitchFamily="34" charset="0"/>
            </a:pPr>
            <a:r>
              <a:rPr lang="en-US" altLang="en-US" sz="1800"/>
              <a:t> and if two or more have the same last_name,</a:t>
            </a:r>
            <a:endParaRPr lang="en-US" altLang="en-US" sz="1800"/>
          </a:p>
          <a:p>
            <a:pPr indent="457200" algn="just">
              <a:buFont typeface="Arial" panose="020B0604020202020204" pitchFamily="34" charset="0"/>
            </a:pPr>
            <a:r>
              <a:rPr lang="en-US" altLang="en-US" sz="1800"/>
              <a:t> it will then sort those by first_name.</a:t>
            </a:r>
            <a:endParaRPr lang="en-US" altLang="en-US" sz="1800"/>
          </a:p>
          <a:p>
            <a:pPr indent="457200" algn="just">
              <a:buFont typeface="Arial" panose="020B0604020202020204" pitchFamily="34" charset="0"/>
            </a:pPr>
            <a:r>
              <a:rPr lang="en-US" altLang="en-US" sz="1800"/>
              <a:t> This is the standard ascending order by default.</a:t>
            </a:r>
            <a:endParaRPr lang="en-US" altLang="en-US" sz="1800"/>
          </a:p>
          <a:p>
            <a:pPr marL="285750" indent="-285750" algn="just">
              <a:buFont typeface="Arial" panose="020B0604020202020204" pitchFamily="34" charset="0"/>
              <a:buChar char="•"/>
            </a:pPr>
            <a:endParaRPr lang="en-US" sz="1800"/>
          </a:p>
          <a:p>
            <a:pPr marL="285750" indent="-285750" algn="just">
              <a:buFont typeface="Arial" panose="020B0604020202020204" pitchFamily="34" charset="0"/>
              <a:buChar char="•"/>
            </a:pPr>
            <a:r>
              <a:rPr lang="en-US" sz="1800"/>
              <a:t>B: </a:t>
            </a:r>
            <a:r>
              <a:rPr lang="en-US" altLang="en-US" sz="1800"/>
              <a:t>SQL uses ORDER BY, not SORT BY. So this query will cause an error.</a:t>
            </a:r>
            <a:endParaRPr lang="en-US" altLang="en-US" sz="1800"/>
          </a:p>
          <a:p>
            <a:pPr marL="285750" indent="-285750" algn="just">
              <a:buFont typeface="Arial" panose="020B0604020202020204" pitchFamily="34" charset="0"/>
              <a:buChar char="•"/>
            </a:pPr>
            <a:endParaRPr lang="en-US" altLang="en-US" sz="1800"/>
          </a:p>
          <a:p>
            <a:pPr marL="285750" indent="-285750" algn="just">
              <a:buFont typeface="Arial" panose="020B0604020202020204" pitchFamily="34" charset="0"/>
              <a:buChar char="•"/>
            </a:pPr>
            <a:r>
              <a:rPr lang="en-US" sz="1800"/>
              <a:t>C: </a:t>
            </a:r>
            <a:r>
              <a:rPr lang="en-US" altLang="en-US" sz="1800"/>
              <a:t> This sorts by last_name in descending (Z → A) order.</a:t>
            </a:r>
            <a:endParaRPr lang="en-US" altLang="en-US" sz="1800"/>
          </a:p>
          <a:p>
            <a:pPr marL="285750" indent="-285750" algn="just">
              <a:buFont typeface="Arial" panose="020B0604020202020204" pitchFamily="34" charset="0"/>
              <a:buChar char="•"/>
            </a:pPr>
            <a:endParaRPr lang="en-US" sz="1800"/>
          </a:p>
          <a:p>
            <a:pPr marL="285750" indent="-285750" algn="just">
              <a:buFont typeface="Arial" panose="020B0604020202020204" pitchFamily="34" charset="0"/>
              <a:buChar char="•"/>
            </a:pPr>
            <a:r>
              <a:rPr lang="en-US" sz="1800"/>
              <a:t>D: </a:t>
            </a:r>
            <a:r>
              <a:rPr lang="en-US" altLang="en-US" sz="1800"/>
              <a:t>GROUP BY is used for aggregating (e.g., COUNT, SUM) data, not for sorting.</a:t>
            </a:r>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550545"/>
            <a:ext cx="9144000" cy="5611495"/>
          </a:xfrm>
        </p:spPr>
        <p:txBody>
          <a:bodyPr>
            <a:noAutofit/>
          </a:bodyPr>
          <a:lstStyle/>
          <a:p>
            <a:pPr algn="just"/>
            <a:r>
              <a:rPr lang="en-US" sz="1800"/>
              <a:t>Answer : C , Reason</a:t>
            </a:r>
            <a:endParaRPr lang="en-US" sz="1800"/>
          </a:p>
          <a:p>
            <a:pPr algn="just"/>
            <a:endParaRPr lang="en-US" sz="1800"/>
          </a:p>
          <a:p>
            <a:pPr marL="285750" indent="-285750" algn="just">
              <a:buFont typeface="Arial" panose="020B0604020202020204" pitchFamily="34" charset="0"/>
              <a:buChar char="•"/>
            </a:pPr>
            <a:r>
              <a:rPr lang="en-US" sz="1800"/>
              <a:t>A: </a:t>
            </a:r>
            <a:r>
              <a:rPr lang="en-US" altLang="en-US" sz="1800"/>
              <a:t>ROWNUM is applied before the analytic function (COUNT() OVER()),</a:t>
            </a:r>
            <a:endParaRPr lang="en-US" altLang="en-US" sz="1800"/>
          </a:p>
          <a:p>
            <a:pPr indent="457200" algn="just">
              <a:buFont typeface="Arial" panose="020B0604020202020204" pitchFamily="34" charset="0"/>
            </a:pPr>
            <a:r>
              <a:rPr lang="en-US" altLang="en-US" sz="1800"/>
              <a:t> so it only counts the limited 100 rows,</a:t>
            </a:r>
            <a:endParaRPr lang="en-US" altLang="en-US" sz="1800"/>
          </a:p>
          <a:p>
            <a:pPr indent="457200" algn="just">
              <a:buFont typeface="Arial" panose="020B0604020202020204" pitchFamily="34" charset="0"/>
            </a:pPr>
            <a:r>
              <a:rPr lang="en-US" altLang="en-US" sz="1800"/>
              <a:t> not the total number of rows in the table.</a:t>
            </a:r>
            <a:endParaRPr lang="en-US" altLang="en-US" sz="1800"/>
          </a:p>
          <a:p>
            <a:pPr indent="457200" algn="just">
              <a:buFont typeface="Arial" panose="020B0604020202020204" pitchFamily="34" charset="0"/>
            </a:pPr>
            <a:r>
              <a:rPr lang="en-US" altLang="en-US" sz="1800"/>
              <a:t> You’ll get 100 for all rows, not the real total.</a:t>
            </a:r>
            <a:endParaRPr lang="en-US" altLang="en-US" sz="1800"/>
          </a:p>
          <a:p>
            <a:pPr marL="285750" indent="-285750" algn="just">
              <a:buFont typeface="Arial" panose="020B0604020202020204" pitchFamily="34" charset="0"/>
              <a:buChar char="•"/>
            </a:pPr>
            <a:endParaRPr lang="en-US" sz="1800"/>
          </a:p>
          <a:p>
            <a:pPr marL="285750" indent="-285750" algn="just">
              <a:buFont typeface="Arial" panose="020B0604020202020204" pitchFamily="34" charset="0"/>
              <a:buChar char="•"/>
            </a:pPr>
            <a:r>
              <a:rPr lang="en-US" sz="1800"/>
              <a:t>B: </a:t>
            </a:r>
            <a:r>
              <a:rPr lang="en-US" altLang="en-US" sz="1800"/>
              <a:t>You can’t mix COUNT(*) (an aggregate) with normal columns without GROUP BY.</a:t>
            </a:r>
            <a:endParaRPr lang="en-US" altLang="en-US" sz="1800"/>
          </a:p>
          <a:p>
            <a:pPr indent="457200" algn="just">
              <a:buFont typeface="Arial" panose="020B0604020202020204" pitchFamily="34" charset="0"/>
            </a:pPr>
            <a:r>
              <a:rPr lang="en-US" altLang="en-US" sz="1800"/>
              <a:t> Also it limits to 100 first, so count = 100 always.</a:t>
            </a:r>
            <a:endParaRPr lang="en-US" altLang="en-US" sz="1800"/>
          </a:p>
          <a:p>
            <a:pPr indent="457200" algn="just">
              <a:buFont typeface="Arial" panose="020B0604020202020204" pitchFamily="34" charset="0"/>
            </a:pPr>
            <a:endParaRPr lang="en-US" altLang="en-US" sz="1800"/>
          </a:p>
          <a:p>
            <a:pPr marL="285750" indent="-285750" algn="just">
              <a:buFont typeface="Arial" panose="020B0604020202020204" pitchFamily="34" charset="0"/>
              <a:buChar char="•"/>
            </a:pPr>
            <a:r>
              <a:rPr lang="en-US" sz="1800"/>
              <a:t>C: </a:t>
            </a:r>
            <a:r>
              <a:rPr lang="en-US" altLang="en-US" sz="1800"/>
              <a:t>COUNT(*) OVER () is an analytic function, so it counts all rows in the full result set,ignoring the limit (it’s calculated before limiting).FETCH FIRST 100 ROWS ONLY limits the displayed rows to 100.So you’ll see:Only 100 rows shown,</a:t>
            </a:r>
            <a:endParaRPr lang="en-US" altLang="en-US" sz="1800"/>
          </a:p>
          <a:p>
            <a:pPr algn="just">
              <a:buFont typeface="Arial" panose="020B0604020202020204" pitchFamily="34" charset="0"/>
            </a:pPr>
            <a:r>
              <a:rPr lang="en-US" altLang="en-US" sz="1800"/>
              <a:t>      Each row includes a column showing the total count of all rows.</a:t>
            </a:r>
            <a:endParaRPr lang="en-US" altLang="en-US" sz="1800"/>
          </a:p>
          <a:p>
            <a:pPr marL="285750" indent="-285750" algn="just">
              <a:buFont typeface="Arial" panose="020B0604020202020204" pitchFamily="34" charset="0"/>
              <a:buChar char="•"/>
            </a:pPr>
            <a:endParaRPr lang="en-US" sz="1800"/>
          </a:p>
          <a:p>
            <a:pPr marL="285750" indent="-285750" algn="just">
              <a:buFont typeface="Arial" panose="020B0604020202020204" pitchFamily="34" charset="0"/>
              <a:buChar char="•"/>
            </a:pPr>
            <a:r>
              <a:rPr lang="en-US" sz="1800"/>
              <a:t>D: </a:t>
            </a:r>
            <a:r>
              <a:rPr lang="en-US" altLang="en-US" sz="1800"/>
              <a:t>Again mixes aggregate (COUNT(*)) with normal columns,which is invalid without GROUP BY.</a:t>
            </a:r>
            <a:endParaRPr lang="en-US" altLang="en-US" sz="1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3665</Words>
  <Application>WPS Presentation</Application>
  <PresentationFormat>Widescreen</PresentationFormat>
  <Paragraphs>106</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SimSun</vt:lpstr>
      <vt:lpstr>Wingdings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Myat Zaw</dc:creator>
  <cp:lastModifiedBy>W24093-User</cp:lastModifiedBy>
  <cp:revision>40</cp:revision>
  <dcterms:created xsi:type="dcterms:W3CDTF">2025-07-23T00:59:00Z</dcterms:created>
  <dcterms:modified xsi:type="dcterms:W3CDTF">2025-10-09T01:12:45Z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1033-12.2.0.21931</vt:lpwstr>
  </property>
</Properties>
</file>